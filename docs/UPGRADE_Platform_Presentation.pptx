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Abundance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E. coli</c:v>
                </c:pt>
                <c:pt idx="1">
                  <c:v>K. pneumoniae</c:v>
                </c:pt>
                <c:pt idx="2">
                  <c:v>P. aeruginosa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42.8</c:v>
                </c:pt>
                <c:pt idx="1">
                  <c:v>28.3</c:v>
                </c:pt>
                <c:pt idx="2">
                  <c:v>17.6</c:v>
                </c:pt>
                <c:pt idx="3">
                  <c:v>11.3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blaCTX-M-15</c:v>
                </c:pt>
                <c:pt idx="1">
                  <c:v>mecA</c:v>
                </c:pt>
                <c:pt idx="2">
                  <c:v>vanA</c:v>
                </c:pt>
                <c:pt idx="3">
                  <c:v>tetM</c:v>
                </c:pt>
                <c:pt idx="4">
                  <c:v>ermB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99.8</c:v>
                </c:pt>
                <c:pt idx="1">
                  <c:v>97.2</c:v>
                </c:pt>
                <c:pt idx="2">
                  <c:v>99.1</c:v>
                </c:pt>
                <c:pt idx="3">
                  <c:v>95.4</c:v>
                </c:pt>
                <c:pt idx="4">
                  <c:v>92.3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Identity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blaCTX-M-15</c:v>
                </c:pt>
                <c:pt idx="1">
                  <c:v>mecA</c:v>
                </c:pt>
                <c:pt idx="2">
                  <c:v>vanA</c:v>
                </c:pt>
                <c:pt idx="3">
                  <c:v>tetM</c:v>
                </c:pt>
                <c:pt idx="4">
                  <c:v>ermB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99.2</c:v>
                </c:pt>
                <c:pt idx="1">
                  <c:v>98.5</c:v>
                </c:pt>
                <c:pt idx="2">
                  <c:v>98.8</c:v>
                </c:pt>
                <c:pt idx="3">
                  <c:v>96.7</c:v>
                </c:pt>
                <c:pt idx="4">
                  <c:v>91.5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/>
                </a:pPr>
                <a:r>
                  <a:t>Ген антибиотикорезистентности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Процент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t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(min)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Sheet1!$A$2:$A$9</c:f>
              <c:strCache>
                <c:ptCount val="8"/>
                <c:pt idx="0">
                  <c:v>NANOPLOT</c:v>
                </c:pt>
                <c:pt idx="1">
                  <c:v>FILTLONG</c:v>
                </c:pt>
                <c:pt idx="2">
                  <c:v>FLYE</c:v>
                </c:pt>
                <c:pt idx="3">
                  <c:v>MEDAKA</c:v>
                </c:pt>
                <c:pt idx="4">
                  <c:v>BWA</c:v>
                </c:pt>
                <c:pt idx="5">
                  <c:v>METABAT2</c:v>
                </c:pt>
                <c:pt idx="6">
                  <c:v>CHECKM</c:v>
                </c:pt>
                <c:pt idx="7">
                  <c:v>DEEPARG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0.75</c:v>
                </c:pt>
                <c:pt idx="2">
                  <c:v>4</c:v>
                </c:pt>
                <c:pt idx="3">
                  <c:v>2</c:v>
                </c:pt>
                <c:pt idx="4">
                  <c:v>0.5</c:v>
                </c:pt>
                <c:pt idx="5">
                  <c:v>0.5</c:v>
                </c:pt>
                <c:pt idx="6">
                  <c:v>2.5</c:v>
                </c:pt>
                <c:pt idx="7">
                  <c:v>0.5</c:v>
                </c:pt>
              </c:numCache>
            </c:numRef>
          </c:val>
        </c:ser>
        <c:dLbls>
          <c:numFmt formatCode="0.0&quot; min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Время (минуты)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UPGRADE Platform</a:t>
            </a:r>
          </a:p>
          <a:p>
            <a:r>
              <a:t>Метангеномный анализ патогенов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Техническая архитектура и пайплайн</a:t>
            </a:r>
          </a:p>
          <a:p>
            <a:r>
              <a:t>05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Архитектура UPGRADE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137160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/>
            </a:pPr>
            <a:r>
              <a:t>Frontend</a:t>
            </a:r>
          </a:p>
          <a:p>
            <a:r>
              <a:t>React SPA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1828800" cy="1371600"/>
          </a:xfrm>
          <a:prstGeom prst="roundRect">
            <a:avLst/>
          </a:prstGeom>
          <a:solidFill>
            <a:srgbClr val="0079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/>
            </a:pPr>
            <a:r>
              <a:t>Backend API</a:t>
            </a:r>
          </a:p>
          <a:p>
            <a:r>
              <a:t>Sanic + Python</a:t>
            </a:r>
          </a:p>
        </p:txBody>
      </p:sp>
      <p:sp>
        <p:nvSpPr>
          <p:cNvPr id="5" name="Diamond 4"/>
          <p:cNvSpPr/>
          <p:nvPr/>
        </p:nvSpPr>
        <p:spPr>
          <a:xfrm>
            <a:off x="5486400" y="1828800"/>
            <a:ext cx="1828800" cy="1371600"/>
          </a:xfrm>
          <a:prstGeom prst="diamond">
            <a:avLst/>
          </a:prstGeom>
          <a:solidFill>
            <a:srgbClr val="26A6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/>
            </a:pPr>
            <a:r>
              <a:t>Database</a:t>
            </a:r>
          </a:p>
          <a:p>
            <a:r>
              <a:t>PostgreSQL + PostGIS</a:t>
            </a:r>
          </a:p>
        </p:txBody>
      </p:sp>
      <p:sp>
        <p:nvSpPr>
          <p:cNvPr id="6" name="Hexagon 5"/>
          <p:cNvSpPr/>
          <p:nvPr/>
        </p:nvSpPr>
        <p:spPr>
          <a:xfrm>
            <a:off x="914400" y="3657600"/>
            <a:ext cx="1828800" cy="1371600"/>
          </a:xfrm>
          <a:prstGeom prst="hexagon">
            <a:avLst/>
          </a:prstGeom>
          <a:solidFill>
            <a:srgbClr val="4DB6A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/>
            </a:pPr>
            <a:r>
              <a:t>Message Queue</a:t>
            </a:r>
          </a:p>
          <a:p>
            <a:r>
              <a:t>Redis + Kafka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657600"/>
            <a:ext cx="1828800" cy="1371600"/>
          </a:xfrm>
          <a:prstGeom prst="roundRect">
            <a:avLst/>
          </a:prstGeom>
          <a:solidFill>
            <a:srgbClr val="81C7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/>
            </a:pPr>
            <a:r>
              <a:t>Object Storage</a:t>
            </a:r>
          </a:p>
          <a:p>
            <a:r>
              <a:t>MinIO (S3)</a:t>
            </a:r>
          </a:p>
        </p:txBody>
      </p:sp>
      <p:sp>
        <p:nvSpPr>
          <p:cNvPr id="8" name="Hexagon 7"/>
          <p:cNvSpPr/>
          <p:nvPr/>
        </p:nvSpPr>
        <p:spPr>
          <a:xfrm>
            <a:off x="5486400" y="3657600"/>
            <a:ext cx="1828800" cy="1371600"/>
          </a:xfrm>
          <a:prstGeom prst="hexagon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/>
            </a:pPr>
            <a:r>
              <a:t>Pipeline</a:t>
            </a:r>
          </a:p>
          <a:p>
            <a:r>
              <a:t>Nextflow + Docker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560320"/>
            <a:ext cx="457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2560320"/>
            <a:ext cx="457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828800" y="3017520"/>
            <a:ext cx="1828800" cy="6400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0" y="3017520"/>
            <a:ext cx="0" cy="6400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743200"/>
            <a:ext cx="1645920" cy="9144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Nextflow пайплайн метангеномного анализа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6459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Stage 1: QC</a:t>
            </a:r>
          </a:p>
          <a:p>
            <a:r>
              <a:t>NANOPLOT</a:t>
            </a:r>
          </a:p>
          <a:p>
            <a:r>
              <a:t>FILTLONG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16459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Stage 2: Assembly</a:t>
            </a:r>
          </a:p>
          <a:p>
            <a:r>
              <a:t>FLYE</a:t>
            </a:r>
          </a:p>
          <a:p>
            <a:r>
              <a:t>MEDAKA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16459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Stage 3: Binning</a:t>
            </a:r>
          </a:p>
          <a:p>
            <a:r>
              <a:t>METABAT2</a:t>
            </a:r>
          </a:p>
          <a:p>
            <a:r>
              <a:t>CONCOCT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16459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Stage 4: Quality</a:t>
            </a:r>
          </a:p>
          <a:p>
            <a:r>
              <a:t>CHECKM</a:t>
            </a:r>
          </a:p>
          <a:p>
            <a:r>
              <a:t>BIN_FILTER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657600"/>
            <a:ext cx="16459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Stage 5: Annotation</a:t>
            </a:r>
          </a:p>
          <a:p>
            <a:r>
              <a:t>PROKKA</a:t>
            </a:r>
          </a:p>
          <a:p>
            <a:r>
              <a:t>ABRICATE</a:t>
            </a:r>
          </a:p>
          <a:p>
            <a:r>
              <a:t>DEEPARG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657600"/>
            <a:ext cx="16459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Stage 6: Taxonomy</a:t>
            </a:r>
          </a:p>
          <a:p>
            <a:r>
              <a:t>KRAKEN2</a:t>
            </a:r>
          </a:p>
          <a:p>
            <a:r>
              <a:t>BRACKEN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377440"/>
            <a:ext cx="18288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2377440"/>
            <a:ext cx="18288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2377440"/>
            <a:ext cx="18288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2377440"/>
            <a:ext cx="914400" cy="1828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2377440"/>
            <a:ext cx="2743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Статистика сборки и биннинга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Исходные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45,328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Reads после фильтрации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40,795 (90%)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Длина reads (мин)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1000 bp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Контиги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Общий размер сборки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4.8 Mbp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45,000 bp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Качество сборки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99.9%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Таксономическая классификация (Kraken2 + Bracken)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3657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Обнаружение генов антибиотикорезистентности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Качество выделенных геномов (бинов)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918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Геном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Completeness (%)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Contamination (%)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Size (Mb)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Качество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E. coli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✓ High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K. pneumoniae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✓ Medium</a:t>
                      </a:r>
                    </a:p>
                  </a:txBody>
                  <a:tcPr>
                    <a:solidFill>
                      <a:srgbClr val="FFF59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P. aeruginosa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✓ High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Other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✓ Medium</a:t>
                      </a:r>
                    </a:p>
                  </a:txBody>
                  <a:tcPr>
                    <a:solidFill>
                      <a:srgbClr val="FFF59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Other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⚠ Low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Other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✓ Medium</a:t>
                      </a:r>
                    </a:p>
                  </a:txBody>
                  <a:tcPr>
                    <a:solidFill>
                      <a:srgbClr val="FFF59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Производительность пайплайна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646464"/>
                </a:solidFill>
              </a:defRPr>
            </a:pPr>
            <a:r>
              <a:t>Общее время выполнения: ~8-10 минут для 150 MB данных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Модули пайплайна и их функции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 anchor="ctr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Модуль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Инструменты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Функции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QC Module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NANOPLOT, FILTLONG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Контроль качества reads, фильтрация по длине и качеству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Assembly Module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FLYE, MEDAKA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De novo сборка, полирование контигов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Binning Module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METABAT2, CONCOCT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Выделение геномов по покрытию и составу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Quality Check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CHECKM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Оценка полноты и контаминации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Annotation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PROKKA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Предсказание генов, функциональная аннотация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ARG Detection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ABRICATE, DEEPARG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Обнаружение генов антибиотикорезистентности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Taxonomy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KRAKEN2, BRACKEN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900"/>
                      </a:pPr>
                      <a:r>
                        <a:t>Таксономическая классификация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Пользовательский сценарий анализа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6459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1. Загрузка данных</a:t>
            </a:r>
          </a:p>
          <a:p>
            <a:r>
              <a:t>Понедельник 9:00</a:t>
            </a:r>
          </a:p>
          <a:p>
            <a:r>
              <a:t>FASTQ файлы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645920" cy="1097280"/>
          </a:xfrm>
          <a:prstGeom prst="roundRect">
            <a:avLst/>
          </a:prstGeom>
          <a:solidFill>
            <a:srgbClr val="26A6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2. Анализ</a:t>
            </a:r>
          </a:p>
          <a:p>
            <a:r>
              <a:t>(Stage 1-2)</a:t>
            </a:r>
          </a:p>
          <a:p>
            <a:r>
              <a:t>QC + Assembly</a:t>
            </a:r>
          </a:p>
          <a:p>
            <a:r>
              <a:t>~2 часа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1645920" cy="1097280"/>
          </a:xfrm>
          <a:prstGeom prst="roundRect">
            <a:avLst/>
          </a:prstGeom>
          <a:solidFill>
            <a:srgbClr val="26A6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3. Анализ</a:t>
            </a:r>
          </a:p>
          <a:p>
            <a:r>
              <a:t>(Stage 3-4)</a:t>
            </a:r>
          </a:p>
          <a:p>
            <a:r>
              <a:t>Binning + ARG</a:t>
            </a:r>
          </a:p>
          <a:p>
            <a:r>
              <a:t>~1 час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1645920" cy="1097280"/>
          </a:xfrm>
          <a:prstGeom prst="roundRect">
            <a:avLst/>
          </a:prstGeom>
          <a:solidFill>
            <a:srgbClr val="4DB6A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4. Результаты</a:t>
            </a:r>
          </a:p>
          <a:p>
            <a:r>
              <a:t>Вторник 11:00</a:t>
            </a:r>
          </a:p>
          <a:p>
            <a:r>
              <a:t>Отчет готов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200400"/>
            <a:ext cx="1645920" cy="1097280"/>
          </a:xfrm>
          <a:prstGeom prst="round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5. Обнаружение</a:t>
            </a:r>
          </a:p>
          <a:p>
            <a:r>
              <a:t>Критическая находка:</a:t>
            </a:r>
          </a:p>
          <a:p>
            <a:r>
              <a:t>blaCTX-M-15 (ESBL)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200400"/>
            <a:ext cx="1645920" cy="109728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6. Интервенция</a:t>
            </a:r>
          </a:p>
          <a:p>
            <a:r>
              <a:t>Усиленный надзор</a:t>
            </a:r>
          </a:p>
          <a:p>
            <a:r>
              <a:t>Стевардшип антибиотиков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1920240"/>
            <a:ext cx="914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1920240"/>
            <a:ext cx="914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1920240"/>
            <a:ext cx="914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6560" y="1920240"/>
            <a:ext cx="0" cy="15544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3749039"/>
            <a:ext cx="914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Технические характеристики системы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22514">
                <a:tc gridSpan="2">
                  <a:txBody>
                    <a:bodyPr anchor="ctr"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Характеристики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r">
                        <a:defRPr sz="900"/>
                      </a:pPr>
                    </a:p>
                  </a:txBody>
                  <a:tcPr/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Технологический стек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Python 3.11, Nextflow, React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База данных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PostgreSQL 15 + PostGIS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Хранилище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MinIO (S3-совместимое)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Очереди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Redis, Kafka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Контейнеризация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Docker, 24+ образов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REST + WebSockets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371600"/>
          <a:ext cx="3657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22514">
                <a:tc gridSpan="2">
                  <a:txBody>
                    <a:bodyPr anchor="ctr"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Производительность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r">
                        <a:defRPr sz="900"/>
                      </a:pPr>
                    </a:p>
                  </a:txBody>
                  <a:tcPr/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Время анализа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8-10 мин (150 MB)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Параллелизм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До 60 потоков CPU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Память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64+ GB RAM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Хранилище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1 TB+ для данных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Поддерживаемые данные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ONT, Illumina, SRA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 anchor="ctr"/>
                    <a:lstStyle/>
                    <a:p>
                      <a:pPr algn="l">
                        <a:defRPr sz="900"/>
                      </a:pPr>
                      <a:r>
                        <a:t>Масштабируемость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defRPr sz="900"/>
                      </a:pPr>
                      <a:r>
                        <a:t>Kubernetes-ready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Выводы и ключевые достижения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009688"/>
                </a:solidFill>
              </a:defRPr>
            </a:pPr>
            <a:r>
              <a:t>✓ Полный анализ метангенома: От reads до аннотации за &lt;10 минут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009688"/>
                </a:solidFill>
              </a:defRPr>
            </a:pPr>
            <a:r>
              <a:t>✓ Автоматический пайплайн: 24 модуля, 13+ биоинформатических инструментов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009688"/>
                </a:solidFill>
              </a:defRPr>
            </a:pPr>
            <a:r>
              <a:t>✓ Высокая точность: &gt;99.9% accuracy сборки, ML-детекция ARG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009688"/>
                </a:solidFill>
              </a:defRPr>
            </a:pPr>
            <a:r>
              <a:t>✓ Масштабируемость: Обработка от 150 MB до 3.5 GB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009688"/>
                </a:solidFill>
              </a:defRPr>
            </a:pPr>
            <a:r>
              <a:t>✓ Интеграция с экоданными: PostGIS + погодные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009688"/>
                </a:solidFill>
              </a:defRPr>
            </a:pPr>
            <a:r>
              <a:t>✓ Производственная готовность: Docker, мониторинг, бэкапы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7315200" cy="137160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Ключевые метрики:</a:t>
            </a:r>
          </a:p>
          <a:p/>
          <a:p>
            <a:pPr algn="ctr">
              <a:defRPr sz="1100">
                <a:solidFill>
                  <a:srgbClr val="FFFFFF"/>
                </a:solidFill>
              </a:defRPr>
            </a:pPr>
            <a:r>
              <a:t>• 3+ вида бактерий идентифицированы • 12+ ARG обнаружено • &gt;90% полнота геномов • &lt;5% контаминация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