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60" r:id="rId10"/>
    <p:sldId id="261" r:id="rId11"/>
    <p:sldId id="265" r:id="rId15"/>
    <p:sldId id="266" r:id="rId16"/>
    <p:sldId id="269" r:id="rId19"/>
    <p:sldId id="270" r:id="rId20"/>
  </p:sldIdLst>
  <p:sldSz cy="5143500" cx="9144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PT Serif"/>
      <p:regular r:id="rId26"/>
      <p:bold r:id="rId27"/>
      <p:italic r:id="rId28"/>
      <p:boldItalic r:id="rId29"/>
    </p:embeddedFont>
    <p:embeddedFont>
      <p:font typeface="PT Sans"/>
      <p:regular r:id="rId30"/>
      <p:bold r:id="rId31"/>
      <p:italic r:id="rId32"/>
      <p:boldItalic r:id="rId33"/>
    </p:embeddedFont>
    <p:embeddedFont>
      <p:font typeface="Sora"/>
      <p:regular r:id="rId34"/>
      <p:bold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2" Type="http://schemas.openxmlformats.org/officeDocument/2006/relationships/font" Target="fonts/Roboto-regular.fntdata"/><Relationship Id="rId23" Type="http://schemas.openxmlformats.org/officeDocument/2006/relationships/font" Target="fonts/Roboto-bold.fntdata"/><Relationship Id="rId24" Type="http://schemas.openxmlformats.org/officeDocument/2006/relationships/font" Target="fonts/Roboto-italic.fntdata"/><Relationship Id="rId25" Type="http://schemas.openxmlformats.org/officeDocument/2006/relationships/font" Target="fonts/Roboto-boldItalic.fntdata"/><Relationship Id="rId26" Type="http://schemas.openxmlformats.org/officeDocument/2006/relationships/font" Target="fonts/PTSerif-regular.fntdata"/><Relationship Id="rId27" Type="http://schemas.openxmlformats.org/officeDocument/2006/relationships/font" Target="fonts/PTSerif-bold.fntdata"/><Relationship Id="rId28" Type="http://schemas.openxmlformats.org/officeDocument/2006/relationships/font" Target="fonts/PTSerif-italic.fntdata"/><Relationship Id="rId29" Type="http://schemas.openxmlformats.org/officeDocument/2006/relationships/font" Target="fonts/PTSerif-boldItalic.fntdata"/><Relationship Id="rId30" Type="http://schemas.openxmlformats.org/officeDocument/2006/relationships/font" Target="fonts/PTSans-regular.fntdata"/><Relationship Id="rId31" Type="http://schemas.openxmlformats.org/officeDocument/2006/relationships/font" Target="fonts/PTSans-bold.fntdata"/><Relationship Id="rId32" Type="http://schemas.openxmlformats.org/officeDocument/2006/relationships/font" Target="fonts/PTSans-italic.fntdata"/><Relationship Id="rId33" Type="http://schemas.openxmlformats.org/officeDocument/2006/relationships/font" Target="fonts/PTSans-boldItalic.fntdata"/><Relationship Id="rId34" Type="http://schemas.openxmlformats.org/officeDocument/2006/relationships/font" Target="fonts/Sora-regular.fntdata"/><Relationship Id="rId35" Type="http://schemas.openxmlformats.org/officeDocument/2006/relationships/font" Target="fonts/Sora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f8ebfcce3_1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f8ebfcce3_1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f8ebfcce3_1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f8ebfcce3_1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f8ebfcce3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f8ebfcce3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9f8ebfcce3_1_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9f8ebfcce3_1_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9f8ebfcce3_1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9f8ebfcce3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9f8ebfcce3_1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9f8ebfcce3_1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f8ebfcce3_1_3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f8ebfcce3_1_3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f8ebfcce3_1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f8ebfcce3_1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399450"/>
            <a:ext cx="8520600" cy="141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4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3600">
                <a:solidFill>
                  <a:srgbClr val="FFFFFF"/>
                </a:solidFill>
              </a:rPr>
              <a:t>UPGRADE</a:t>
            </a: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55875"/>
            <a:ext cx="35970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27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800">
                <a:solidFill>
                  <a:srgbClr val="FFFFFF"/>
                </a:solidFill>
              </a:rPr>
              <a:t>Unified Platform for Genomic Resistance Analysis,</a:t>
            </a:r>
          </a:p>
          <a:p>
            <a:r>
              <a:rPr lang="ro-RO" dirty="0" b="0" sz="1800">
                <a:solidFill>
                  <a:srgbClr val="FFFFFF"/>
                </a:solidFill>
              </a:rPr>
              <a:t>Detection and Environmental Surveillance</a:t>
            </a:r>
          </a:p>
        </p:txBody>
      </p:sp>
      <p:pic>
        <p:nvPicPr>
          <p:cNvPr id="56" name="Google Shape;56;p13" title="Image for PPT from ChatGPT.png"/>
          <p:cNvPicPr preferRelativeResize="0"/>
          <p:nvPr/>
        </p:nvPicPr>
        <p:blipFill rotWithShape="1">
          <a:blip r:embed="rId4">
            <a:alphaModFix/>
          </a:blip>
          <a:srcRect b="10005" l="0" r="0" t="10013"/>
          <a:stretch/>
        </p:blipFill>
        <p:spPr>
          <a:xfrm>
            <a:off x="4923050" y="1220425"/>
            <a:ext cx="3615600" cy="289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471725" y="3831000"/>
            <a:ext cx="3006900" cy="6639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3176EE"/>
              </a:gs>
              <a:gs pos="100000">
                <a:srgbClr val="113D8A"/>
              </a:gs>
            </a:gsLst>
            <a:lin ang="5400012" scaled="0"/>
          </a:gradFill>
          <a:ln>
            <a:noFill/>
          </a:ln>
          <a:effectLst>
            <a:outerShdw blurRad="322339" rotWithShape="0" algn="bl" dir="2700000" dist="35815">
              <a:srgbClr val="188E9D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10"/>
              <a:buFont typeface="Roboto"/>
              <a:buNone/>
            </a:pPr>
            <a:endParaRPr b="1">
              <a:solidFill>
                <a:srgbClr val="F7F7F7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400">
                <a:solidFill>
                  <a:srgbClr val="FFFFFF"/>
                </a:solidFill>
              </a:rPr>
              <a:t>Universitatea Tehnică a Moldovei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idx="4294967295" type="ctrTitle"/>
          </p:nvPr>
        </p:nvSpPr>
        <p:spPr>
          <a:xfrm>
            <a:off x="179550" y="263025"/>
            <a:ext cx="85206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Introducere</a:t>
            </a:r>
          </a:p>
        </p:txBody>
      </p:sp>
      <p:sp>
        <p:nvSpPr>
          <p:cNvPr id="63" name="Google Shape;63;p14"/>
          <p:cNvSpPr txBox="1"/>
          <p:nvPr>
            <p:ph idx="4294967295" type="subTitle"/>
          </p:nvPr>
        </p:nvSpPr>
        <p:spPr>
          <a:xfrm>
            <a:off x="179550" y="862700"/>
            <a:ext cx="3597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2000">
                <a:solidFill>
                  <a:srgbClr val="0048BA"/>
                </a:solidFill>
              </a:rPr>
              <a:t>Ce este UPGRADE?</a:t>
            </a:r>
          </a:p>
        </p:txBody>
      </p:sp>
      <p:sp>
        <p:nvSpPr>
          <p:cNvPr id="64" name="Google Shape;64;p14"/>
          <p:cNvSpPr txBox="1"/>
          <p:nvPr/>
        </p:nvSpPr>
        <p:spPr>
          <a:xfrm>
            <a:off x="311700" y="1730350"/>
            <a:ext cx="85206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lvl="0"/>
            <a:r>
              <a:rPr lang="ro-RO" dirty="0" sz="1500">
                <a:solidFill>
                  <a:srgbClr val="00378E"/>
                </a:solidFill>
              </a:rPr>
              <a:t>UPGRADE este o platformă bioinformatică end-to-end care procesează automat datele de secvențiere ONT și detectează rezistența la antimicrobiene din apele reziduale urbane.</a:t>
            </a:r>
          </a:p>
          <a:p>
            <a:pPr lvl="0"/>
            <a:r>
              <a:rPr lang="ro-RO" dirty="0" sz="1400"/>
              <a:t> </a:t>
            </a:r>
          </a:p>
          <a:p>
            <a:pPr lvl="0"/>
            <a:r>
              <a:rPr lang="ro-RO" dirty="0" b="1" sz="1500">
                <a:solidFill>
                  <a:srgbClr val="00378E"/>
                </a:solidFill>
              </a:rPr>
              <a:t>Ce face concret:</a:t>
            </a:r>
          </a:p>
          <a:p>
            <a:pPr lvl="1" indent="-228600" marL="228600"/>
            <a:r>
              <a:rPr lang="ro-RO" dirty="0" sz="1400">
                <a:solidFill>
                  <a:srgbClr val="00378E"/>
                </a:solidFill>
              </a:rPr>
              <a:t>Preia date brute FASTQ de la orice secvențiator ONT (Oxford Nanopore)</a:t>
            </a:r>
          </a:p>
          <a:p>
            <a:pPr lvl="1" indent="-228600" marL="228600"/>
            <a:r>
              <a:rPr lang="ro-RO" dirty="0" sz="1400">
                <a:solidFill>
                  <a:srgbClr val="00378E"/>
                </a:solidFill>
              </a:rPr>
              <a:t>Procesează automat prin 7 etape bioinformatice containerizate</a:t>
            </a:r>
          </a:p>
          <a:p>
            <a:pPr lvl="1" indent="-228600" marL="228600"/>
            <a:r>
              <a:rPr lang="ro-RO" dirty="0" sz="1400">
                <a:solidFill>
                  <a:srgbClr val="00378E"/>
                </a:solidFill>
              </a:rPr>
              <a:t>Identifică bacteriile rezistente, genele ARG și riscul de răspândire</a:t>
            </a:r>
          </a:p>
          <a:p>
            <a:pPr lvl="1" indent="-228600" marL="228600"/>
            <a:r>
              <a:rPr lang="ro-RO" dirty="0" sz="1400">
                <a:solidFill>
                  <a:srgbClr val="00378E"/>
                </a:solidFill>
              </a:rPr>
              <a:t>Prezintă rezultatele în dashboard web accesibil fără expertiză bioinformatică</a:t>
            </a:r>
          </a:p>
          <a:p>
            <a:pPr lvl="0"/>
            <a:r>
              <a:rPr lang="ro-RO" dirty="0" sz="1400"/>
              <a:t> </a:t>
            </a:r>
          </a:p>
          <a:p>
            <a:pPr lvl="0"/>
            <a:r>
              <a:rPr lang="ro-RO" dirty="0" b="1" sz="1500">
                <a:solidFill>
                  <a:srgbClr val="00378E"/>
                </a:solidFill>
              </a:rPr>
              <a:t>Testat pe 53 eșantioane reale NCBI SRA — ape reziduale urbane, seawater, mediu.</a:t>
            </a:r>
          </a:p>
          <a:p>
            <a:pPr lvl="0"/>
            <a:r>
              <a:rPr lang="ro-RO" dirty="0" sz="1400">
                <a:solidFill>
                  <a:srgbClr val="00378E"/>
                </a:solidFill>
              </a:rPr>
              <a:t>382 gene ARG identificate per eșantion urban complex · MAG completitudine &gt;95%.</a:t>
            </a:r>
          </a:p>
        </p:txBody>
      </p:sp>
      <p:grpSp>
        <p:nvGrpSpPr>
          <p:cNvPr id="65" name="Google Shape;65;p14"/>
          <p:cNvGrpSpPr/>
          <p:nvPr/>
        </p:nvGrpSpPr>
        <p:grpSpPr>
          <a:xfrm>
            <a:off x="6330165" y="4705706"/>
            <a:ext cx="2813844" cy="353707"/>
            <a:chOff x="6896700" y="4247600"/>
            <a:chExt cx="2247300" cy="468300"/>
          </a:xfrm>
        </p:grpSpPr>
        <p:sp>
          <p:nvSpPr>
            <p:cNvPr id="66" name="Google Shape;66;p14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D5D5D5"/>
                </a:gs>
              </a:gsLst>
              <a:lin ang="5400700" scaled="0"/>
            </a:gra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rgbClr val="1C4587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</a:t>
              </a:r>
              <a:r>
                <a:rPr lang="ro" sz="1359">
                  <a:solidFill>
                    <a:srgbClr val="1C4587"/>
                  </a:solidFill>
                  <a:latin typeface="PT Serif"/>
                  <a:ea typeface="PT Serif"/>
                  <a:cs typeface="PT Serif"/>
                  <a:sym typeface="PT Serif"/>
                </a:rPr>
                <a:t>aster</a:t>
              </a:r>
              <a:endParaRPr sz="1359">
                <a:solidFill>
                  <a:srgbClr val="1C4587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528212" y="2579599"/>
            <a:ext cx="3050100" cy="443100"/>
          </a:xfrm>
          <a:prstGeom prst="roundRect">
            <a:avLst>
              <a:gd fmla="val 16667" name="adj"/>
            </a:avLst>
          </a:prstGeom>
          <a:solidFill>
            <a:srgbClr val="003589"/>
          </a:solidFill>
          <a:ln>
            <a:noFill/>
          </a:ln>
          <a:effectLst>
            <a:outerShdw blurRad="53723" rotWithShape="0" algn="bl" dir="2700000" dist="53723">
              <a:srgbClr val="0F3D44">
                <a:alpha val="3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10"/>
              <a:buFont typeface="Roboto"/>
              <a:buNone/>
            </a:pPr>
            <a:endParaRPr b="1" i="0" sz="1410" u="none" cap="none" strike="noStrike">
              <a:solidFill>
                <a:srgbClr val="F7F7F7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1" sz="1300">
                <a:solidFill>
                  <a:srgbClr val="FFFFFF"/>
                </a:solidFill>
              </a:rPr>
              <a:t>🦠  Criză globală AMR</a:t>
            </a:r>
          </a:p>
        </p:txBody>
      </p:sp>
      <p:sp>
        <p:nvSpPr>
          <p:cNvPr id="73" name="Google Shape;73;p15"/>
          <p:cNvSpPr/>
          <p:nvPr/>
        </p:nvSpPr>
        <p:spPr>
          <a:xfrm rot="5400000">
            <a:off x="3748666" y="2624749"/>
            <a:ext cx="353700" cy="263400"/>
          </a:xfrm>
          <a:prstGeom prst="triangle">
            <a:avLst>
              <a:gd fmla="val 50000" name="adj"/>
            </a:avLst>
          </a:prstGeom>
          <a:solidFill>
            <a:srgbClr val="F7F7F7"/>
          </a:solidFill>
          <a:ln>
            <a:noFill/>
          </a:ln>
          <a:effectLst>
            <a:outerShdw blurRad="188031" rotWithShape="0" algn="bl" dir="5400000" dist="44769">
              <a:srgbClr val="166A71">
                <a:alpha val="40000"/>
              </a:srgbClr>
            </a:outerShdw>
          </a:effectLst>
        </p:spPr>
        <p:txBody>
          <a:bodyPr anchorCtr="0" anchor="ctr" bIns="42950" lIns="85950" spcFirstLastPara="1" rIns="85950" wrap="square" tIns="42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t/>
            </a:r>
            <a:endParaRPr b="0" i="0" sz="103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" name="Google Shape;74;p15"/>
          <p:cNvSpPr txBox="1"/>
          <p:nvPr/>
        </p:nvSpPr>
        <p:spPr>
          <a:xfrm>
            <a:off x="4193592" y="2581620"/>
            <a:ext cx="4407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950" lIns="85950" spcFirstLastPara="1" rIns="85950" wrap="square" tIns="4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endParaRPr sz="1534">
              <a:solidFill>
                <a:srgbClr val="00378E"/>
              </a:solidFill>
              <a:latin typeface="Roboto"/>
              <a:ea typeface="Roboto"/>
              <a:cs typeface="Roboto"/>
              <a:sym typeface="Roboto"/>
            </a:endParaRPr>
            <a:r>
              <a:rPr lang="ro-RO" dirty="0" b="0" sz="1200">
                <a:solidFill>
                  <a:srgbClr val="00378E"/>
                </a:solidFill>
              </a:rPr>
              <a:t>1.27 milioane decese/an din cauza bacteriilor rezistente (Lancet 2022). Fără intervenție → 10 milioane/an până în 2050. Bacteriile rezistente nu respectă granițe — se răspândesc prin apă, sol, animale.</a:t>
            </a:r>
          </a:p>
        </p:txBody>
      </p:sp>
      <p:sp>
        <p:nvSpPr>
          <p:cNvPr id="75" name="Google Shape;75;p15"/>
          <p:cNvSpPr/>
          <p:nvPr/>
        </p:nvSpPr>
        <p:spPr>
          <a:xfrm>
            <a:off x="528212" y="3302205"/>
            <a:ext cx="3028500" cy="443100"/>
          </a:xfrm>
          <a:prstGeom prst="roundRect">
            <a:avLst>
              <a:gd fmla="val 16667" name="adj"/>
            </a:avLst>
          </a:prstGeom>
          <a:solidFill>
            <a:srgbClr val="0043AC"/>
          </a:solidFill>
          <a:ln>
            <a:noFill/>
          </a:ln>
          <a:effectLst>
            <a:outerShdw blurRad="53723" rotWithShape="0" algn="bl" dir="2700000" dist="53723">
              <a:srgbClr val="0F3D44">
                <a:alpha val="3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429785" lvl="0" marL="429785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10"/>
              <a:buFont typeface="Roboto"/>
              <a:buNone/>
            </a:pPr>
            <a:endParaRPr i="0" sz="1410" u="none" cap="none" strike="noStrike">
              <a:solidFill>
                <a:srgbClr val="F7F7F7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1" sz="1300">
                <a:solidFill>
                  <a:srgbClr val="FFFFFF"/>
                </a:solidFill>
              </a:rPr>
              <a:t>🔬  Lipsă instrument complet</a:t>
            </a:r>
          </a:p>
        </p:txBody>
      </p:sp>
      <p:sp>
        <p:nvSpPr>
          <p:cNvPr id="76" name="Google Shape;76;p15"/>
          <p:cNvSpPr txBox="1"/>
          <p:nvPr/>
        </p:nvSpPr>
        <p:spPr>
          <a:xfrm>
            <a:off x="4208790" y="3327210"/>
            <a:ext cx="4407000" cy="3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2950" lIns="85950" spcFirstLastPara="1" rIns="85950" wrap="square" tIns="429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10"/>
              <a:buFont typeface="Arial"/>
              <a:buNone/>
            </a:pPr>
            <a:endParaRPr sz="1534">
              <a:solidFill>
                <a:srgbClr val="00378E"/>
              </a:solidFill>
              <a:latin typeface="Roboto"/>
              <a:ea typeface="Roboto"/>
              <a:cs typeface="Roboto"/>
              <a:sym typeface="Roboto"/>
            </a:endParaRPr>
            <a:r>
              <a:rPr lang="ro-RO" dirty="0" b="0" sz="1200">
                <a:solidFill>
                  <a:srgbClr val="00378E"/>
                </a:solidFill>
              </a:rPr>
              <a:t>18+ instrumente bioinformatice separate, fiecare cu format propriu. Un eșantion = 10–50 GB date. Necesită expertiză avansată — inaccesibil pentru clinici și autorități de sănătate publică.</a:t>
            </a:r>
          </a:p>
        </p:txBody>
      </p:sp>
      <p:sp>
        <p:nvSpPr>
          <p:cNvPr id="77" name="Google Shape;77;p15"/>
          <p:cNvSpPr/>
          <p:nvPr/>
        </p:nvSpPr>
        <p:spPr>
          <a:xfrm>
            <a:off x="528212" y="4036751"/>
            <a:ext cx="3028500" cy="443100"/>
          </a:xfrm>
          <a:prstGeom prst="roundRect">
            <a:avLst>
              <a:gd fmla="val 16667" name="adj"/>
            </a:avLst>
          </a:prstGeom>
          <a:solidFill>
            <a:srgbClr val="0048BA"/>
          </a:solidFill>
          <a:ln>
            <a:noFill/>
          </a:ln>
          <a:effectLst>
            <a:outerShdw blurRad="47754" rotWithShape="0" algn="tl" dir="2700000" dist="53723">
              <a:srgbClr val="0F3D44">
                <a:alpha val="30000"/>
              </a:srgbClr>
            </a:outerShdw>
          </a:effectLst>
        </p:spPr>
        <p:txBody>
          <a:bodyPr anchorCtr="0" anchor="ctr" bIns="42950" lIns="85950" spcFirstLastPara="1" rIns="85950" wrap="square" tIns="42950">
            <a:noAutofit/>
          </a:bodyPr>
          <a:lstStyle/>
          <a:p>
            <a:pPr indent="0" lvl="0" marL="42978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8"/>
              <a:buFont typeface="Arial"/>
              <a:buNone/>
            </a:pPr>
            <a:endParaRPr b="1" i="0" sz="141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1" sz="1300">
                <a:solidFill>
                  <a:srgbClr val="FFFFFF"/>
                </a:solidFill>
              </a:rPr>
              <a:t>💡  Soluția: supravegherea apelor reziduale</a:t>
            </a:r>
          </a:p>
        </p:txBody>
      </p:sp>
      <p:sp>
        <p:nvSpPr>
          <p:cNvPr id="78" name="Google Shape;78;p15"/>
          <p:cNvSpPr txBox="1"/>
          <p:nvPr/>
        </p:nvSpPr>
        <p:spPr>
          <a:xfrm>
            <a:off x="4208790" y="4010134"/>
            <a:ext cx="4276500" cy="4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85950" lIns="85950" spcFirstLastPara="1" rIns="85950" wrap="square" tIns="8595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endParaRPr sz="1534">
              <a:solidFill>
                <a:srgbClr val="00378E"/>
              </a:solidFill>
              <a:latin typeface="Roboto"/>
              <a:ea typeface="Roboto"/>
              <a:cs typeface="Roboto"/>
              <a:sym typeface="Roboto"/>
            </a:endParaRPr>
            <a:r>
              <a:rPr lang="ro-RO" dirty="0" b="0" sz="1200">
                <a:solidFill>
                  <a:srgbClr val="00378E"/>
                </a:solidFill>
              </a:rPr>
              <a:t>Canalizarea concentrează bacteriile întregii populații — ca un test de sânge pentru tot orașul. Detectăm rezistența cu 6–12 luni înainte de clinici. UPGRADE automatizează tot: de la FASTQ la raport.</a:t>
            </a:r>
          </a:p>
        </p:txBody>
      </p:sp>
      <p:sp>
        <p:nvSpPr>
          <p:cNvPr id="79" name="Google Shape;79;p15"/>
          <p:cNvSpPr/>
          <p:nvPr/>
        </p:nvSpPr>
        <p:spPr>
          <a:xfrm>
            <a:off x="528212" y="1875700"/>
            <a:ext cx="7972200" cy="4431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1076D2"/>
              </a:gs>
              <a:gs pos="100000">
                <a:srgbClr val="255096"/>
              </a:gs>
            </a:gsLst>
            <a:lin ang="5400012" scaled="0"/>
          </a:gradFill>
          <a:ln>
            <a:noFill/>
          </a:ln>
          <a:effectLst>
            <a:outerShdw blurRad="322339" rotWithShape="0" algn="bl" dir="2700000" dist="35815">
              <a:srgbClr val="188E9D">
                <a:alpha val="400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10"/>
              <a:buFont typeface="Roboto"/>
              <a:buNone/>
            </a:pPr>
            <a:r>
              <a:rPr b="1" lang="ro" sz="1786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rPr>
              <a:t>Idei</a:t>
            </a:r>
            <a:endParaRPr i="0" sz="1786" u="none" cap="none" strike="noStrike">
              <a:solidFill>
                <a:srgbClr val="F7F7F7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80" name="Google Shape;80;p15"/>
          <p:cNvSpPr/>
          <p:nvPr/>
        </p:nvSpPr>
        <p:spPr>
          <a:xfrm rot="5400000">
            <a:off x="3748666" y="3367193"/>
            <a:ext cx="353700" cy="263400"/>
          </a:xfrm>
          <a:prstGeom prst="triangle">
            <a:avLst>
              <a:gd fmla="val 50000" name="adj"/>
            </a:avLst>
          </a:prstGeom>
          <a:solidFill>
            <a:srgbClr val="F7F7F7"/>
          </a:solidFill>
          <a:ln>
            <a:noFill/>
          </a:ln>
          <a:effectLst>
            <a:outerShdw blurRad="188031" rotWithShape="0" algn="bl" dir="5400000" dist="44769">
              <a:srgbClr val="166A71">
                <a:alpha val="40000"/>
              </a:srgbClr>
            </a:outerShdw>
          </a:effectLst>
        </p:spPr>
        <p:txBody>
          <a:bodyPr anchorCtr="0" anchor="ctr" bIns="42950" lIns="85950" spcFirstLastPara="1" rIns="85950" wrap="square" tIns="42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t/>
            </a:r>
            <a:endParaRPr b="0" i="0" sz="103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1" name="Google Shape;81;p15"/>
          <p:cNvSpPr/>
          <p:nvPr/>
        </p:nvSpPr>
        <p:spPr>
          <a:xfrm rot="5400000">
            <a:off x="3748666" y="4109632"/>
            <a:ext cx="353700" cy="263400"/>
          </a:xfrm>
          <a:prstGeom prst="triangle">
            <a:avLst>
              <a:gd fmla="val 50000" name="adj"/>
            </a:avLst>
          </a:prstGeom>
          <a:solidFill>
            <a:srgbClr val="F7F7F7"/>
          </a:solidFill>
          <a:ln>
            <a:noFill/>
          </a:ln>
          <a:effectLst>
            <a:outerShdw blurRad="188031" rotWithShape="0" algn="bl" dir="5400000" dist="44769">
              <a:srgbClr val="166A71">
                <a:alpha val="40000"/>
              </a:srgbClr>
            </a:outerShdw>
          </a:effectLst>
        </p:spPr>
        <p:txBody>
          <a:bodyPr anchorCtr="0" anchor="ctr" bIns="42950" lIns="85950" spcFirstLastPara="1" rIns="85950" wrap="square" tIns="42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34"/>
              <a:buFont typeface="Arial"/>
              <a:buNone/>
            </a:pPr>
            <a:r>
              <a:t/>
            </a:r>
            <a:endParaRPr b="0" i="0" sz="1034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5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28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Ce problemă rezolvă UPGRADE?</a:t>
            </a:r>
          </a:p>
        </p:txBody>
      </p:sp>
      <p:sp>
        <p:nvSpPr>
          <p:cNvPr id="83" name="Google Shape;83;p15"/>
          <p:cNvSpPr txBox="1"/>
          <p:nvPr/>
        </p:nvSpPr>
        <p:spPr>
          <a:xfrm>
            <a:off x="254750" y="8923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o" sz="2000">
                <a:solidFill>
                  <a:srgbClr val="0048BA"/>
                </a:solidFill>
                <a:latin typeface="PT Sans"/>
                <a:ea typeface="PT Sans"/>
                <a:cs typeface="PT Sans"/>
                <a:sym typeface="PT Sans"/>
              </a:rPr>
              <a:t>Adaugă un subtitlu</a:t>
            </a: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85" name="Google Shape;85;p15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86" name="Google Shape;86;p15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36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Scopul și obiectivele lucrării</a:t>
            </a:r>
          </a:p>
        </p:txBody>
      </p:sp>
      <p:sp>
        <p:nvSpPr>
          <p:cNvPr id="153" name="Google Shape;153;p17"/>
          <p:cNvSpPr txBox="1"/>
          <p:nvPr/>
        </p:nvSpPr>
        <p:spPr>
          <a:xfrm>
            <a:off x="254750" y="892300"/>
            <a:ext cx="8520600" cy="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2000">
                <a:solidFill>
                  <a:srgbClr val="0048BA"/>
                </a:solidFill>
              </a:rPr>
              <a:t>Democratizarea accesului la supravegherea metagenomică AMR</a:t>
            </a:r>
          </a:p>
        </p:txBody>
      </p:sp>
      <p:sp>
        <p:nvSpPr>
          <p:cNvPr id="154" name="Google Shape;154;p17"/>
          <p:cNvSpPr txBox="1"/>
          <p:nvPr/>
        </p:nvSpPr>
        <p:spPr>
          <a:xfrm>
            <a:off x="348350" y="1438650"/>
            <a:ext cx="8520600" cy="32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lvl="0"/>
            <a:r>
              <a:rPr lang="ro-RO" dirty="0" b="1" sz="1500">
                <a:solidFill>
                  <a:srgbClr val="00378E"/>
                </a:solidFill>
              </a:rPr>
              <a:t>Scopul principal:</a:t>
            </a:r>
          </a:p>
          <a:p>
            <a:pPr lvl="1" indent="-228600" marL="228600"/>
            <a:r>
              <a:rPr lang="ro-RO" dirty="0" sz="1400">
                <a:solidFill>
                  <a:srgbClr val="00378E"/>
                </a:solidFill>
              </a:rPr>
              <a:t>Crearea unei platforme bioinformatice open-source care procesează automat date ONT long-read și produce rapoarte epidemiologice AMR — fără a necesita expertiză bioinformatică.</a:t>
            </a:r>
          </a:p>
          <a:p>
            <a:pPr lvl="0"/>
            <a:r>
              <a:rPr lang="ro-RO" dirty="0" sz="1400"/>
              <a:t> </a:t>
            </a:r>
          </a:p>
          <a:p>
            <a:pPr lvl="0"/>
            <a:r>
              <a:rPr lang="ro-RO" dirty="0" b="1" sz="1500">
                <a:solidFill>
                  <a:srgbClr val="00378E"/>
                </a:solidFill>
              </a:rPr>
              <a:t>Trei contribuții originale: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Arhitectură Lakehouse Medallion on-premise (Bronze/Silver/Gold): MinIO + PostgreSQL 15 + PostGIS 3.3 — prima implementare open-source adaptată datelor de supraveghere AMR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Pipeline automat în 7 etape: QC → Asamblare → Mapare → Binning → Taxonomie → Adnotare → ARG. Nextflow DSL2, 18 imagini Docker cu SHA256 fixat, Redis + RQ Worker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Dashboard web React 18 + Sanic API: monitorizare în timp real, hărți geospațiale ARG, AMR Risk Score 0–100, export JSON/HTML pentru sisteme externe</a:t>
            </a:r>
          </a:p>
          <a:p>
            <a:pPr lvl="0"/>
            <a:r>
              <a:rPr lang="ro-RO" dirty="0" sz="1400"/>
              <a:t> </a:t>
            </a:r>
          </a:p>
          <a:p>
            <a:pPr lvl="0"/>
            <a:r>
              <a:rPr lang="ro-RO" dirty="0" b="1" sz="1500">
                <a:solidFill>
                  <a:srgbClr val="00378E"/>
                </a:solidFill>
              </a:rPr>
              <a:t>De ce contează: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First open-source: ONT long-read + Lakehouse + ARG detectare + interfață web — tot într-un singur sistem integrat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Reproductibilitate garantată: SHA256 per etapă, versiuni Docker fixate, Nextflow caching</a:t>
            </a:r>
          </a:p>
          <a:p>
            <a:pPr lvl="1" indent="-228600" marL="228600"/>
            <a:r>
              <a:rPr lang="ro-RO" dirty="0" sz="1300">
                <a:solidFill>
                  <a:srgbClr val="00378E"/>
                </a:solidFill>
              </a:rPr>
              <a:t>Impact: sistem de alertă precoce AMR cu 6–12 luni înainte de clinici</a:t>
            </a:r>
          </a:p>
        </p:txBody>
      </p:sp>
      <p:grpSp>
        <p:nvGrpSpPr>
          <p:cNvPr id="155" name="Google Shape;155;p17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156" name="Google Shape;156;p17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28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Pipeline Bioinformatic — 7 Etape</a:t>
            </a:r>
          </a:p>
        </p:txBody>
      </p:sp>
      <p:sp>
        <p:nvSpPr>
          <p:cNvPr id="163" name="Google Shape;163;p18"/>
          <p:cNvSpPr txBox="1"/>
          <p:nvPr/>
        </p:nvSpPr>
        <p:spPr>
          <a:xfrm>
            <a:off x="254750" y="8923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800">
                <a:solidFill>
                  <a:srgbClr val="0048BA"/>
                </a:solidFill>
              </a:rPr>
              <a:t>Nextflow DSL2  ·  18 imagini Docker (SHA256)  ·  Redis + RQ Worker</a:t>
            </a:r>
          </a:p>
        </p:txBody>
      </p:sp>
      <p:grpSp>
        <p:nvGrpSpPr>
          <p:cNvPr id="164" name="Google Shape;164;p18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165" name="Google Shape;165;p18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166" name="Google Shape;166;p18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  <p:pic>
        <p:nvPicPr>
          <p:cNvPr id="167" name="Picture 166" descr="pipeline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371600"/>
            <a:ext cx="2218447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28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Aplicația Realizată</a:t>
            </a:r>
          </a:p>
        </p:txBody>
      </p:sp>
      <p:sp>
        <p:nvSpPr>
          <p:cNvPr id="214" name="Google Shape;214;p22"/>
          <p:cNvSpPr txBox="1"/>
          <p:nvPr/>
        </p:nvSpPr>
        <p:spPr>
          <a:xfrm>
            <a:off x="254750" y="8923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1" sz="1600">
                <a:solidFill>
                  <a:srgbClr val="FFFFFF"/>
                </a:solidFill>
              </a:rPr>
              <a:t>Rezultate</a:t>
            </a:r>
          </a:p>
          <a:p>
            <a:r>
              <a:rPr lang="ro-RO" dirty="0" b="1" sz="1600">
                <a:solidFill>
                  <a:srgbClr val="FFFFFF"/>
                </a:solidFill>
              </a:rPr>
              <a:t>reale</a:t>
            </a:r>
          </a:p>
        </p:txBody>
      </p:sp>
      <p:sp>
        <p:nvSpPr>
          <p:cNvPr id="215" name="Google Shape;215;p22"/>
          <p:cNvSpPr/>
          <p:nvPr/>
        </p:nvSpPr>
        <p:spPr>
          <a:xfrm>
            <a:off x="373550" y="1489725"/>
            <a:ext cx="2720100" cy="3075300"/>
          </a:xfrm>
          <a:prstGeom prst="roundRect">
            <a:avLst>
              <a:gd fmla="val 4524" name="adj"/>
            </a:avLst>
          </a:prstGeom>
          <a:solidFill>
            <a:srgbClr val="F1F1F1"/>
          </a:solidFill>
          <a:ln>
            <a:noFill/>
          </a:ln>
          <a:effectLst>
            <a:outerShdw blurRad="101123" rotWithShape="0" algn="tl" dir="2700000" dist="30337">
              <a:srgbClr val="000000">
                <a:alpha val="40000"/>
              </a:srgbClr>
            </a:outerShdw>
          </a:effectLst>
        </p:spPr>
        <p:txBody>
          <a:bodyPr anchorCtr="0" anchor="ctr" bIns="36375" lIns="72825" spcFirstLastPara="1" rIns="72825" wrap="square" tIns="363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664100" y="1732275"/>
            <a:ext cx="2285400" cy="24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375" lIns="72825" spcFirstLastPara="1" rIns="72825" wrap="square" tIns="363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796"/>
              </a:spcBef>
              <a:spcAft>
                <a:spcPts val="0"/>
              </a:spcAft>
              <a:buClr>
                <a:srgbClr val="154955"/>
              </a:buClr>
              <a:buSzPts val="2548"/>
              <a:buFont typeface="Arial"/>
              <a:buNone/>
            </a:pPr>
            <a:endParaRPr i="0" sz="2547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1300">
                <a:solidFill>
                  <a:srgbClr val="00378E"/>
                </a:solidFill>
              </a:rPr>
              <a:t>53 probe</a:t>
            </a:r>
          </a:p>
          <a:p>
            <a:r>
              <a:rPr lang="ro-RO" dirty="0" b="1" sz="1300">
                <a:solidFill>
                  <a:srgbClr val="00378E"/>
                </a:solidFill>
              </a:rPr>
              <a:t>382 ARG</a:t>
            </a:r>
          </a:p>
          <a:p>
            <a:r>
              <a:rPr lang="ro-RO" dirty="0" b="1" sz="1300">
                <a:solidFill>
                  <a:srgbClr val="00378E"/>
                </a:solidFill>
              </a:rPr>
              <a:t>&gt;95% MAG</a:t>
            </a:r>
          </a:p>
        </p:txBody>
      </p:sp>
      <p:sp>
        <p:nvSpPr>
          <p:cNvPr id="217" name="Google Shape;217;p22"/>
          <p:cNvSpPr/>
          <p:nvPr/>
        </p:nvSpPr>
        <p:spPr>
          <a:xfrm>
            <a:off x="3240025" y="1592000"/>
            <a:ext cx="5506800" cy="782100"/>
          </a:xfrm>
          <a:prstGeom prst="roundRect">
            <a:avLst>
              <a:gd fmla="val 4524" name="adj"/>
            </a:avLst>
          </a:prstGeom>
          <a:solidFill>
            <a:srgbClr val="0048BA"/>
          </a:solidFill>
          <a:ln>
            <a:noFill/>
          </a:ln>
          <a:effectLst>
            <a:outerShdw blurRad="101123" rotWithShape="0" algn="tl" dir="2700000" dist="30337">
              <a:srgbClr val="000000">
                <a:alpha val="40000"/>
              </a:srgbClr>
            </a:outerShdw>
          </a:effectLst>
        </p:spPr>
        <p:txBody>
          <a:bodyPr anchorCtr="0" anchor="ctr" bIns="36375" lIns="72825" spcFirstLastPara="1" rIns="72825" wrap="square" tIns="36375">
            <a:noAutofit/>
          </a:bodyPr>
          <a:lstStyle/>
          <a:p>
            <a:pPr indent="0" lvl="0" marL="364042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200">
                <a:solidFill>
                  <a:srgbClr val="00378E"/>
                </a:solidFill>
              </a:rPr>
              <a:t>📊  Dashboard web React 18 — monitorizare în timp real (polling 5s), stadii pending→running→completed. Profil taxonomic stacked bar charts la nivel phylum/familie/specie.</a:t>
            </a:r>
          </a:p>
        </p:txBody>
      </p:sp>
      <p:sp>
        <p:nvSpPr>
          <p:cNvPr id="218" name="Google Shape;218;p22"/>
          <p:cNvSpPr/>
          <p:nvPr/>
        </p:nvSpPr>
        <p:spPr>
          <a:xfrm>
            <a:off x="3240025" y="2581188"/>
            <a:ext cx="5506800" cy="782100"/>
          </a:xfrm>
          <a:prstGeom prst="roundRect">
            <a:avLst>
              <a:gd fmla="val 4524" name="adj"/>
            </a:avLst>
          </a:prstGeom>
          <a:solidFill>
            <a:srgbClr val="0043AC"/>
          </a:solidFill>
          <a:ln>
            <a:noFill/>
          </a:ln>
          <a:effectLst>
            <a:outerShdw blurRad="101123" rotWithShape="0" algn="tl" dir="2700000" dist="30337">
              <a:srgbClr val="000000">
                <a:alpha val="40000"/>
              </a:srgbClr>
            </a:outerShdw>
          </a:effectLst>
        </p:spPr>
        <p:txBody>
          <a:bodyPr anchorCtr="0" anchor="ctr" bIns="36375" lIns="72825" spcFirstLastPara="1" rIns="72825" wrap="square" tIns="36375">
            <a:noAutofit/>
          </a:bodyPr>
          <a:lstStyle/>
          <a:p>
            <a:pPr indent="0" lvl="0" marL="364042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200">
                <a:solidFill>
                  <a:srgbClr val="00378E"/>
                </a:solidFill>
              </a:rPr>
              <a:t>🗄️  PostgreSQL 15 + PostGIS 3.3 — 12 tabele: samples (GPS, SHA256), pipeline_jobs (stare), genome_bins (CheckM), arg_detections (gene ARG, mecanism), amr_summary. Interogări geospațiale: "probe în 50 km de București".</a:t>
            </a:r>
          </a:p>
        </p:txBody>
      </p:sp>
      <p:sp>
        <p:nvSpPr>
          <p:cNvPr id="219" name="Google Shape;219;p22"/>
          <p:cNvSpPr/>
          <p:nvPr/>
        </p:nvSpPr>
        <p:spPr>
          <a:xfrm>
            <a:off x="3240025" y="3622540"/>
            <a:ext cx="5506800" cy="782100"/>
          </a:xfrm>
          <a:prstGeom prst="roundRect">
            <a:avLst>
              <a:gd fmla="val 4524" name="adj"/>
            </a:avLst>
          </a:prstGeom>
          <a:solidFill>
            <a:srgbClr val="003B96"/>
          </a:solidFill>
          <a:ln>
            <a:noFill/>
          </a:ln>
          <a:effectLst>
            <a:outerShdw blurRad="101123" rotWithShape="0" algn="tl" dir="2700000" dist="30337">
              <a:srgbClr val="000000">
                <a:alpha val="40000"/>
              </a:srgbClr>
            </a:outerShdw>
          </a:effectLst>
        </p:spPr>
        <p:txBody>
          <a:bodyPr anchorCtr="0" anchor="ctr" bIns="36375" lIns="72825" spcFirstLastPara="1" rIns="72825" wrap="square" tIns="36375">
            <a:noAutofit/>
          </a:bodyPr>
          <a:lstStyle/>
          <a:p>
            <a:pPr indent="0" lvl="0" marL="364042" marR="0" rtl="0" algn="l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200">
                <a:solidFill>
                  <a:srgbClr val="00378E"/>
                </a:solidFill>
              </a:rPr>
              <a:t>💊  AMR Risk Score 0–100 + 25+ genuri patogene · 53 eșantioane procesate · 382 gene ARG/eșantion urban · MAG HQ &gt;95% completitudine</a:t>
            </a:r>
          </a:p>
        </p:txBody>
      </p:sp>
      <p:grpSp>
        <p:nvGrpSpPr>
          <p:cNvPr id="220" name="Google Shape;220;p22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221" name="Google Shape;221;p22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3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28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Secvențierea ONT Long-Read</a:t>
            </a:r>
          </a:p>
        </p:txBody>
      </p:sp>
      <p:sp>
        <p:nvSpPr>
          <p:cNvPr id="228" name="Google Shape;228;p23"/>
          <p:cNvSpPr txBox="1"/>
          <p:nvPr/>
        </p:nvSpPr>
        <p:spPr>
          <a:xfrm>
            <a:off x="254750" y="8923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600">
                <a:solidFill>
                  <a:srgbClr val="0048BA"/>
                </a:solidFill>
              </a:rPr>
              <a:t>De ce citirile lungi sunt decisive pentru detectarea rezistenței la antimicrobiene</a:t>
            </a:r>
          </a:p>
        </p:txBody>
      </p:sp>
      <p:sp>
        <p:nvSpPr>
          <p:cNvPr id="229" name="Google Shape;229;p23"/>
          <p:cNvSpPr/>
          <p:nvPr/>
        </p:nvSpPr>
        <p:spPr>
          <a:xfrm>
            <a:off x="386200" y="1452426"/>
            <a:ext cx="2719800" cy="3023400"/>
          </a:xfrm>
          <a:prstGeom prst="roundRect">
            <a:avLst>
              <a:gd fmla="val 4443" name="adj"/>
            </a:avLst>
          </a:prstGeom>
          <a:solidFill>
            <a:srgbClr val="F1F1F1"/>
          </a:solidFill>
          <a:ln>
            <a:noFill/>
          </a:ln>
          <a:effectLst>
            <a:outerShdw blurRad="101107" rotWithShape="0" algn="tl" dir="2700000" dist="30332">
              <a:srgbClr val="000000">
                <a:alpha val="40000"/>
              </a:srgbClr>
            </a:outerShdw>
          </a:effectLst>
        </p:spPr>
        <p:txBody>
          <a:bodyPr anchorCtr="0" anchor="ctr" bIns="36350" lIns="72800" spcFirstLastPara="1" rIns="72800" wrap="square" tIns="36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100">
                <a:solidFill>
                  <a:srgbClr val="FFFFFF"/>
                </a:solidFill>
              </a:rPr>
              <a:t>Plasmide &amp; Elemente mobile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Citirile lungi (N50&gt;10kb) reconstituie complet plasmidele (1–200+ kb) — principalul vector de transfer al rezistenței. Imposibil cu Illumina de 150bp.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Integroni (2–10kb) și transposoni (2–50kb) asamblați integral → context genetic complet al ARG.</a:t>
            </a:r>
          </a:p>
        </p:txBody>
      </p:sp>
      <p:sp>
        <p:nvSpPr>
          <p:cNvPr id="230" name="Google Shape;230;p23"/>
          <p:cNvSpPr/>
          <p:nvPr/>
        </p:nvSpPr>
        <p:spPr>
          <a:xfrm>
            <a:off x="3212101" y="1452426"/>
            <a:ext cx="2719800" cy="3023400"/>
          </a:xfrm>
          <a:prstGeom prst="roundRect">
            <a:avLst>
              <a:gd fmla="val 4443" name="adj"/>
            </a:avLst>
          </a:prstGeom>
          <a:solidFill>
            <a:srgbClr val="0043AC"/>
          </a:solidFill>
          <a:ln>
            <a:noFill/>
          </a:ln>
          <a:effectLst>
            <a:outerShdw blurRad="101107" rotWithShape="0" algn="tl" dir="2700000" dist="30332">
              <a:srgbClr val="000000">
                <a:alpha val="40000"/>
              </a:srgbClr>
            </a:outerShdw>
          </a:effectLst>
        </p:spPr>
        <p:txBody>
          <a:bodyPr anchorCtr="0" anchor="ctr" bIns="36350" lIns="72800" spcFirstLastPara="1" rIns="72800" wrap="square" tIns="36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100">
                <a:solidFill>
                  <a:srgbClr val="FFFFFF"/>
                </a:solidFill>
              </a:rPr>
              <a:t>Cromozomi bacterieni completi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Flye --meta asamblează cromozomi completi dintr-un singur scaffold. Știm exact ce organism poartă rezistența și la ce nivel taxonomic (specie, nu doar gen).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GTDB-Tk clasifică cu rezoluție de specie pe baza a 300.000+ genomi de referință.</a:t>
            </a:r>
          </a:p>
        </p:txBody>
      </p:sp>
      <p:sp>
        <p:nvSpPr>
          <p:cNvPr id="231" name="Google Shape;231;p23"/>
          <p:cNvSpPr/>
          <p:nvPr/>
        </p:nvSpPr>
        <p:spPr>
          <a:xfrm>
            <a:off x="6038001" y="1452426"/>
            <a:ext cx="2719800" cy="3023400"/>
          </a:xfrm>
          <a:prstGeom prst="roundRect">
            <a:avLst>
              <a:gd fmla="val 4443" name="adj"/>
            </a:avLst>
          </a:prstGeom>
          <a:solidFill>
            <a:srgbClr val="003589"/>
          </a:solidFill>
          <a:ln>
            <a:noFill/>
          </a:ln>
          <a:effectLst>
            <a:outerShdw blurRad="101107" rotWithShape="0" algn="tl" dir="2700000" dist="30332">
              <a:srgbClr val="000000">
                <a:alpha val="40000"/>
              </a:srgbClr>
            </a:outerShdw>
          </a:effectLst>
        </p:spPr>
        <p:txBody>
          <a:bodyPr anchorCtr="0" anchor="ctr" bIns="36350" lIns="72800" spcFirstLastPara="1" rIns="72800" wrap="square" tIns="36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endParaRPr sz="1433">
              <a:solidFill>
                <a:srgbClr val="FFFFFF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100">
                <a:solidFill>
                  <a:srgbClr val="FFFFFF"/>
                </a:solidFill>
              </a:rPr>
              <a:t>Acuratețe &amp; Timp real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Chimia R10.4.1 + Dorado SUP → Q20+ (&gt;99% acuratețe per citire). Elimină erori sistematice la homopolimeri.</a:t>
            </a:r>
          </a:p>
          <a:p>
            <a:r>
              <a:rPr lang="ro-RO" dirty="0" b="0" sz="1100">
                <a:solidFill>
                  <a:srgbClr val="FFFFFF"/>
                </a:solidFill>
              </a:rPr>
              <a:t/>
            </a:r>
          </a:p>
          <a:p>
            <a:r>
              <a:rPr lang="ro-RO" dirty="0" b="0" sz="1100">
                <a:solidFill>
                  <a:srgbClr val="FFFFFF"/>
                </a:solidFill>
              </a:rPr>
              <a:t>PromethION: 7.6 Tb per rulare → supraveghere la scară națională. Detecție în timp real prin MinKNOW streaming.</a:t>
            </a:r>
          </a:p>
        </p:txBody>
      </p:sp>
      <p:grpSp>
        <p:nvGrpSpPr>
          <p:cNvPr id="232" name="Google Shape;232;p23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233" name="Google Shape;233;p23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6"/>
          <p:cNvSpPr txBox="1"/>
          <p:nvPr/>
        </p:nvSpPr>
        <p:spPr>
          <a:xfrm>
            <a:off x="254000" y="276700"/>
            <a:ext cx="8520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b="1" sz="2800">
              <a:solidFill>
                <a:srgbClr val="00378E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2800">
                <a:solidFill>
                  <a:srgbClr val="00378E"/>
                </a:solidFill>
              </a:rPr>
              <a:t>Concluzii</a:t>
            </a:r>
          </a:p>
        </p:txBody>
      </p:sp>
      <p:sp>
        <p:nvSpPr>
          <p:cNvPr id="269" name="Google Shape;269;p26"/>
          <p:cNvSpPr txBox="1"/>
          <p:nvPr/>
        </p:nvSpPr>
        <p:spPr>
          <a:xfrm>
            <a:off x="254750" y="892300"/>
            <a:ext cx="8520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sz="2000">
              <a:solidFill>
                <a:srgbClr val="0048BA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800">
                <a:solidFill>
                  <a:srgbClr val="0048BA"/>
                </a:solidFill>
              </a:rPr>
              <a:t>UPGRADE demonstrează că supravegherea AMR poate fi automatizată și accesibilă oricui</a:t>
            </a:r>
          </a:p>
        </p:txBody>
      </p:sp>
      <p:sp>
        <p:nvSpPr>
          <p:cNvPr id="270" name="Google Shape;270;p26"/>
          <p:cNvSpPr/>
          <p:nvPr/>
        </p:nvSpPr>
        <p:spPr>
          <a:xfrm>
            <a:off x="840875" y="1415950"/>
            <a:ext cx="3477600" cy="3065700"/>
          </a:xfrm>
          <a:prstGeom prst="roundRect">
            <a:avLst>
              <a:gd fmla="val 2541" name="adj"/>
            </a:avLst>
          </a:prstGeom>
          <a:solidFill>
            <a:srgbClr val="F1F1F1"/>
          </a:solidFill>
          <a:ln>
            <a:noFill/>
          </a:ln>
          <a:effectLst>
            <a:outerShdw blurRad="100002" rotWithShape="0" algn="tl" dir="2700000" dist="30001">
              <a:srgbClr val="000000">
                <a:alpha val="40000"/>
              </a:srgbClr>
            </a:outerShdw>
          </a:effectLst>
        </p:spPr>
        <p:txBody>
          <a:bodyPr anchorCtr="0" anchor="t" bIns="35975" lIns="72000" spcFirstLastPara="1" rIns="72000" wrap="square" tIns="35975">
            <a:noAutofit/>
          </a:bodyPr>
          <a:lstStyle/>
          <a:p>
            <a:pPr lvl="0"/>
            <a:r>
              <a:rPr lang="ro-RO" dirty="0" b="1" sz="1500">
                <a:solidFill>
                  <a:srgbClr val="00378E"/>
                </a:solidFill>
              </a:rPr>
              <a:t>Ce aduce nou: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Prima platformă open-source care combină ONT long-read + Lakehouse + ARG + web UI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De la FASTQ la raport epidemiologic — complet automat, fără expertiză bioinformatică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Long-read ONT permite reconstrucția completă a plasmidelor → evaluarea riscului de răspândire AMR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53 eșantioane reale procesate · 382 ARG / eșantion · MAG HQ &gt;95%</a:t>
            </a:r>
          </a:p>
        </p:txBody>
      </p:sp>
      <p:sp>
        <p:nvSpPr>
          <p:cNvPr id="271" name="Google Shape;271;p26"/>
          <p:cNvSpPr/>
          <p:nvPr/>
        </p:nvSpPr>
        <p:spPr>
          <a:xfrm>
            <a:off x="4825550" y="1415950"/>
            <a:ext cx="3477600" cy="3065700"/>
          </a:xfrm>
          <a:prstGeom prst="roundRect">
            <a:avLst>
              <a:gd fmla="val 2414" name="adj"/>
            </a:avLst>
          </a:prstGeom>
          <a:solidFill>
            <a:srgbClr val="F1F1F1"/>
          </a:solidFill>
          <a:ln>
            <a:noFill/>
          </a:ln>
          <a:effectLst>
            <a:outerShdw blurRad="100002" rotWithShape="0" algn="tl" dir="2700000" dist="30001">
              <a:srgbClr val="000000">
                <a:alpha val="40000"/>
              </a:srgbClr>
            </a:outerShdw>
          </a:effectLst>
        </p:spPr>
        <p:txBody>
          <a:bodyPr anchorCtr="0" anchor="t" bIns="35975" lIns="72000" spcFirstLastPara="1" rIns="72000" wrap="square" tIns="35975">
            <a:noAutofit/>
          </a:bodyPr>
          <a:lstStyle/>
          <a:p>
            <a:pPr lvl="0"/>
            <a:r>
              <a:rPr lang="ro-RO" dirty="0" b="1" sz="1500">
                <a:solidFill>
                  <a:srgbClr val="00378E"/>
                </a:solidFill>
              </a:rPr>
              <a:t>Impact &amp; Direcții: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Sistem de alertă precoce AMR pentru sănătate publică — 6–12 luni înainte de clinici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Scalabil: de la server de laborator la infrastructuri naționale de supraveghere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Comparabilitate între studii și laboratoare prin reproductibilitate garantată (SHA256)</a:t>
            </a:r>
          </a:p>
          <a:p>
            <a:pPr lvl="0"/>
            <a:r>
              <a:rPr lang="ro-RO" dirty="0" sz="1000">
                <a:solidFill>
                  <a:srgbClr val="00378E"/>
                </a:solidFill>
              </a:rPr>
              <a:t> </a:t>
            </a:r>
          </a:p>
          <a:p>
            <a:pPr lvl="0"/>
            <a:r>
              <a:rPr lang="ro-RO" dirty="0" sz="1300">
                <a:solidFill>
                  <a:srgbClr val="00378E"/>
                </a:solidFill>
              </a:rPr>
              <a:t>Roadmap: suport Illumina hybrid · integrare națională · ≥500 eșantioane continue</a:t>
            </a:r>
          </a:p>
        </p:txBody>
      </p:sp>
      <p:grpSp>
        <p:nvGrpSpPr>
          <p:cNvPr id="272" name="Google Shape;272;p26"/>
          <p:cNvGrpSpPr/>
          <p:nvPr/>
        </p:nvGrpSpPr>
        <p:grpSpPr>
          <a:xfrm>
            <a:off x="6383252" y="4706156"/>
            <a:ext cx="2761482" cy="353707"/>
            <a:chOff x="6896700" y="4247600"/>
            <a:chExt cx="2247300" cy="468300"/>
          </a:xfrm>
        </p:grpSpPr>
        <p:sp>
          <p:nvSpPr>
            <p:cNvPr id="273" name="Google Shape;273;p26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solidFill>
              <a:srgbClr val="1155CC"/>
            </a:soli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274" name="Google Shape;274;p26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chemeClr val="lt1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chemeClr val="lt1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/>
          <p:nvPr>
            <p:ph type="ctrTitle"/>
          </p:nvPr>
        </p:nvSpPr>
        <p:spPr>
          <a:xfrm>
            <a:off x="352875" y="2090650"/>
            <a:ext cx="85206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 sz="4000">
              <a:solidFill>
                <a:schemeClr val="lt1"/>
              </a:solidFill>
              <a:latin typeface="PT Serif"/>
              <a:ea typeface="PT Serif"/>
              <a:cs typeface="PT Serif"/>
              <a:sym typeface="PT Serif"/>
            </a:endParaRPr>
            <a:r>
              <a:rPr lang="ro-RO" dirty="0" b="1" sz="3200">
                <a:solidFill>
                  <a:srgbClr val="FFFFFF"/>
                </a:solidFill>
              </a:rPr>
              <a:t>Mulțumesc pentru atenție!</a:t>
            </a:r>
          </a:p>
        </p:txBody>
      </p:sp>
      <p:sp>
        <p:nvSpPr>
          <p:cNvPr id="280" name="Google Shape;280;p27"/>
          <p:cNvSpPr txBox="1"/>
          <p:nvPr>
            <p:ph idx="1" type="subTitle"/>
          </p:nvPr>
        </p:nvSpPr>
        <p:spPr>
          <a:xfrm>
            <a:off x="2773500" y="2985350"/>
            <a:ext cx="35970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  <a:r>
              <a:rPr lang="ro-RO" dirty="0" b="0" sz="1800">
                <a:solidFill>
                  <a:srgbClr val="FFFFFF"/>
                </a:solidFill>
              </a:rPr>
              <a:t>UPGRADE · Universitatea Tehnică a Moldovei · 2025</a:t>
            </a:r>
          </a:p>
        </p:txBody>
      </p:sp>
      <p:grpSp>
        <p:nvGrpSpPr>
          <p:cNvPr id="281" name="Google Shape;281;p27"/>
          <p:cNvGrpSpPr/>
          <p:nvPr/>
        </p:nvGrpSpPr>
        <p:grpSpPr>
          <a:xfrm>
            <a:off x="6331390" y="4705706"/>
            <a:ext cx="2813844" cy="353707"/>
            <a:chOff x="6896700" y="4247600"/>
            <a:chExt cx="2247300" cy="468300"/>
          </a:xfrm>
        </p:grpSpPr>
        <p:sp>
          <p:nvSpPr>
            <p:cNvPr id="282" name="Google Shape;282;p27"/>
            <p:cNvSpPr/>
            <p:nvPr/>
          </p:nvSpPr>
          <p:spPr>
            <a:xfrm rot="10800000">
              <a:off x="6896700" y="4247600"/>
              <a:ext cx="2247300" cy="468300"/>
            </a:xfrm>
            <a:prstGeom prst="homePlate">
              <a:avLst>
                <a:gd fmla="val 50000" name="adj"/>
              </a:avLst>
            </a:prstGeom>
            <a:gradFill>
              <a:gsLst>
                <a:gs pos="0">
                  <a:srgbClr val="FFFFFF"/>
                </a:gs>
                <a:gs pos="100000">
                  <a:srgbClr val="D5D5D5"/>
                </a:gs>
              </a:gsLst>
              <a:lin ang="5400700" scaled="0"/>
            </a:gradFill>
            <a:ln>
              <a:noFill/>
            </a:ln>
            <a:effectLst>
              <a:outerShdw blurRad="43165" rotWithShape="0" algn="bl" dir="5400000" dist="14388">
                <a:srgbClr val="000000">
                  <a:alpha val="50000"/>
                </a:srgbClr>
              </a:outerShdw>
            </a:effectLst>
          </p:spPr>
          <p:txBody>
            <a:bodyPr anchorCtr="0" anchor="ctr" bIns="69050" lIns="69050" spcFirstLastPara="1" rIns="69050" wrap="square" tIns="69050">
              <a:noAutofit/>
            </a:bodyPr>
            <a:lstStyle/>
            <a:p>
              <a:pPr indent="0" lvl="0" marL="0" rtl="0" algn="ctr">
                <a:lnSpc>
                  <a:spcPct val="11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057">
                <a:solidFill>
                  <a:srgbClr val="F7F7F7"/>
                </a:solidFill>
                <a:latin typeface="PT Sans"/>
                <a:ea typeface="PT Sans"/>
                <a:cs typeface="PT Sans"/>
                <a:sym typeface="PT Sans"/>
              </a:endParaRPr>
            </a:p>
          </p:txBody>
        </p:sp>
        <p:sp>
          <p:nvSpPr>
            <p:cNvPr id="283" name="Google Shape;283;p27"/>
            <p:cNvSpPr txBox="1"/>
            <p:nvPr/>
          </p:nvSpPr>
          <p:spPr>
            <a:xfrm>
              <a:off x="7301775" y="4250900"/>
              <a:ext cx="16524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9050" lIns="69050" spcFirstLastPara="1" rIns="69050" wrap="square" tIns="690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o" sz="1359">
                  <a:solidFill>
                    <a:srgbClr val="1C4587"/>
                  </a:solidFill>
                  <a:latin typeface="PT Serif"/>
                  <a:ea typeface="PT Serif"/>
                  <a:cs typeface="PT Serif"/>
                  <a:sym typeface="PT Serif"/>
                </a:rPr>
                <a:t>Teză de Licență / Master</a:t>
              </a:r>
              <a:endParaRPr sz="1359">
                <a:solidFill>
                  <a:srgbClr val="1C4587"/>
                </a:solidFill>
                <a:latin typeface="PT Serif"/>
                <a:ea typeface="PT Serif"/>
                <a:cs typeface="PT Serif"/>
                <a:sym typeface="PT Serif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